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0" r:id="rId1"/>
  </p:sldMasterIdLst>
  <p:sldIdLst>
    <p:sldId id="262" r:id="rId2"/>
  </p:sldIdLst>
  <p:sldSz cx="21599525" cy="302402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9332" autoAdjust="0"/>
    <p:restoredTop sz="94660"/>
  </p:normalViewPr>
  <p:slideViewPr>
    <p:cSldViewPr snapToGrid="0">
      <p:cViewPr>
        <p:scale>
          <a:sx n="64" d="100"/>
          <a:sy n="64" d="100"/>
        </p:scale>
        <p:origin x="3456" y="4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presProps" Target="presProps.xml"  /><Relationship Id="rId4" Type="http://schemas.openxmlformats.org/officeDocument/2006/relationships/viewProps" Target="viewProps.xml"  /><Relationship Id="rId5" Type="http://schemas.openxmlformats.org/officeDocument/2006/relationships/theme" Target="theme/theme1.xml"  /><Relationship Id="rId6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jpeg"  /><Relationship Id="rId3" Type="http://schemas.openxmlformats.org/officeDocument/2006/relationships/image" Target="../media/image2.png"  /><Relationship Id="rId4" Type="http://schemas.openxmlformats.org/officeDocument/2006/relationships/image" Target="../media/image3.svg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73C5EF51-8989-AFD9-37C1-60FE6A01BC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5"/>
            <a:ext cx="21599525" cy="30236897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5B5A119E-1B06-8E09-16DA-6D41E6FBB7C5}"/>
              </a:ext>
            </a:extLst>
          </p:cNvPr>
          <p:cNvGrpSpPr/>
          <p:nvPr userDrawn="1"/>
        </p:nvGrpSpPr>
        <p:grpSpPr>
          <a:xfrm>
            <a:off x="14593949" y="3542633"/>
            <a:ext cx="1594759" cy="2236959"/>
            <a:chOff x="14516100" y="3307501"/>
            <a:chExt cx="1594759" cy="223695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DBC3D95-9BD2-DF13-C09F-6FF61635D9A1}"/>
                </a:ext>
              </a:extLst>
            </p:cNvPr>
            <p:cNvSpPr txBox="1"/>
            <p:nvPr/>
          </p:nvSpPr>
          <p:spPr>
            <a:xfrm>
              <a:off x="14589127" y="3307501"/>
              <a:ext cx="1521732" cy="2236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ko-KR" altLang="en-US" sz="2400" b="1" spc="-150" dirty="0">
                  <a:solidFill>
                    <a:srgbClr val="002060"/>
                  </a:solidFill>
                  <a:latin typeface="+mn-ea"/>
                </a:rPr>
                <a:t>교과목명</a:t>
              </a:r>
              <a:endParaRPr lang="en-US" altLang="ko-KR" sz="2400" b="1" spc="-150" dirty="0">
                <a:solidFill>
                  <a:srgbClr val="002060"/>
                </a:solidFill>
                <a:latin typeface="+mn-ea"/>
              </a:endParaRPr>
            </a:p>
            <a:p>
              <a:pPr algn="dist">
                <a:lnSpc>
                  <a:spcPct val="150000"/>
                </a:lnSpc>
              </a:pPr>
              <a:r>
                <a:rPr lang="ko-KR" altLang="en-US" sz="2400" b="1" spc="-150" dirty="0" err="1">
                  <a:solidFill>
                    <a:srgbClr val="002060"/>
                  </a:solidFill>
                  <a:latin typeface="+mn-ea"/>
                </a:rPr>
                <a:t>팀명</a:t>
              </a:r>
              <a:endParaRPr lang="en-US" altLang="ko-KR" sz="2400" b="1" spc="-150" dirty="0">
                <a:solidFill>
                  <a:srgbClr val="002060"/>
                </a:solidFill>
                <a:latin typeface="+mn-ea"/>
              </a:endParaRPr>
            </a:p>
            <a:p>
              <a:pPr algn="dist">
                <a:lnSpc>
                  <a:spcPct val="150000"/>
                </a:lnSpc>
              </a:pPr>
              <a:r>
                <a:rPr lang="ko-KR" altLang="en-US" sz="2400" b="1" spc="-150" dirty="0">
                  <a:solidFill>
                    <a:srgbClr val="002060"/>
                  </a:solidFill>
                  <a:latin typeface="+mn-ea"/>
                </a:rPr>
                <a:t>팀 원</a:t>
              </a:r>
              <a:endParaRPr lang="en-US" altLang="ko-KR" sz="2400" b="1" spc="-150" dirty="0">
                <a:solidFill>
                  <a:srgbClr val="002060"/>
                </a:solidFill>
                <a:latin typeface="+mn-ea"/>
              </a:endParaRPr>
            </a:p>
            <a:p>
              <a:pPr algn="dist">
                <a:lnSpc>
                  <a:spcPct val="150000"/>
                </a:lnSpc>
              </a:pPr>
              <a:r>
                <a:rPr lang="ko-KR" altLang="en-US" sz="2400" b="1" spc="-150" dirty="0">
                  <a:solidFill>
                    <a:srgbClr val="002060"/>
                  </a:solidFill>
                  <a:latin typeface="+mn-ea"/>
                </a:rPr>
                <a:t>지도교수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8D93B88A-4434-1376-EDC0-B766F2274C1B}"/>
                </a:ext>
              </a:extLst>
            </p:cNvPr>
            <p:cNvSpPr/>
            <p:nvPr/>
          </p:nvSpPr>
          <p:spPr>
            <a:xfrm>
              <a:off x="14516100" y="3505200"/>
              <a:ext cx="73027" cy="3124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0CAF54F-B9CD-CB59-4686-7279F524FDBC}"/>
                </a:ext>
              </a:extLst>
            </p:cNvPr>
            <p:cNvSpPr/>
            <p:nvPr/>
          </p:nvSpPr>
          <p:spPr>
            <a:xfrm>
              <a:off x="14516100" y="4015319"/>
              <a:ext cx="73027" cy="3124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E5196C57-F7AB-6E2B-DB92-ACA09D9A5770}"/>
                </a:ext>
              </a:extLst>
            </p:cNvPr>
            <p:cNvSpPr/>
            <p:nvPr/>
          </p:nvSpPr>
          <p:spPr>
            <a:xfrm>
              <a:off x="14516100" y="4578088"/>
              <a:ext cx="73027" cy="3124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236F905-0DC8-C8E0-13AB-6E0C0F4BE525}"/>
                </a:ext>
              </a:extLst>
            </p:cNvPr>
            <p:cNvSpPr/>
            <p:nvPr/>
          </p:nvSpPr>
          <p:spPr>
            <a:xfrm>
              <a:off x="14516100" y="5140857"/>
              <a:ext cx="73027" cy="3124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" name="그래픽 3">
            <a:extLst>
              <a:ext uri="{FF2B5EF4-FFF2-40B4-BE49-F238E27FC236}">
                <a16:creationId xmlns:a16="http://schemas.microsoft.com/office/drawing/2014/main" id="{7EC6D99D-5A84-130C-12BD-A57E6EDB3CE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458366" y="608845"/>
            <a:ext cx="423773" cy="4237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AFE71D-E3D9-293B-F5D8-D5223D64811B}"/>
              </a:ext>
            </a:extLst>
          </p:cNvPr>
          <p:cNvSpPr txBox="1"/>
          <p:nvPr userDrawn="1"/>
        </p:nvSpPr>
        <p:spPr>
          <a:xfrm>
            <a:off x="1670252" y="735104"/>
            <a:ext cx="1281684" cy="59502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sz="3600" b="1" spc="0" dirty="0">
                <a:solidFill>
                  <a:schemeClr val="bg1"/>
                </a:solidFill>
                <a:latin typeface="+mn-ea"/>
              </a:rPr>
              <a:t>2025</a:t>
            </a:r>
            <a:endParaRPr lang="ko-KR" altLang="en-US" sz="3600" b="1" spc="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871087F-1EA7-4358-AAB1-5DD32B9354B5}"/>
              </a:ext>
            </a:extLst>
          </p:cNvPr>
          <p:cNvGrpSpPr/>
          <p:nvPr userDrawn="1"/>
        </p:nvGrpSpPr>
        <p:grpSpPr>
          <a:xfrm>
            <a:off x="1670252" y="1236202"/>
            <a:ext cx="5709639" cy="595027"/>
            <a:chOff x="4215332" y="681316"/>
            <a:chExt cx="5709639" cy="59502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EA3C43-9CB6-9954-8AAC-7BD26DE8E45D}"/>
                </a:ext>
              </a:extLst>
            </p:cNvPr>
            <p:cNvSpPr txBox="1"/>
            <p:nvPr userDrawn="1"/>
          </p:nvSpPr>
          <p:spPr>
            <a:xfrm>
              <a:off x="4215332" y="681316"/>
              <a:ext cx="4341928" cy="595027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ko-KR" sz="3600" b="1" spc="0" dirty="0">
                  <a:solidFill>
                    <a:srgbClr val="D9B4F7"/>
                  </a:solidFill>
                  <a:latin typeface="+mn-ea"/>
                </a:rPr>
                <a:t>C</a:t>
              </a:r>
              <a:r>
                <a:rPr lang="en-US" altLang="ko-KR" sz="3600" b="1" spc="0" dirty="0">
                  <a:solidFill>
                    <a:schemeClr val="bg1"/>
                  </a:solidFill>
                  <a:latin typeface="+mn-ea"/>
                </a:rPr>
                <a:t>A</a:t>
              </a:r>
              <a:r>
                <a:rPr lang="en-US" altLang="ko-KR" sz="3600" b="1" spc="0" dirty="0">
                  <a:solidFill>
                    <a:srgbClr val="D9B4F7"/>
                  </a:solidFill>
                  <a:latin typeface="+mn-ea"/>
                </a:rPr>
                <a:t>P</a:t>
              </a:r>
              <a:r>
                <a:rPr lang="en-US" altLang="ko-KR" sz="3600" b="1" spc="0" dirty="0">
                  <a:solidFill>
                    <a:schemeClr val="bg1"/>
                  </a:solidFill>
                  <a:latin typeface="+mn-ea"/>
                </a:rPr>
                <a:t>S</a:t>
              </a:r>
              <a:r>
                <a:rPr lang="en-US" altLang="ko-KR" sz="3600" b="1" spc="0" dirty="0">
                  <a:solidFill>
                    <a:srgbClr val="D9B4F7"/>
                  </a:solidFill>
                  <a:latin typeface="+mn-ea"/>
                </a:rPr>
                <a:t>T</a:t>
              </a:r>
              <a:r>
                <a:rPr lang="en-US" altLang="ko-KR" sz="3600" b="1" spc="0" dirty="0">
                  <a:solidFill>
                    <a:schemeClr val="bg1"/>
                  </a:solidFill>
                  <a:latin typeface="+mn-ea"/>
                </a:rPr>
                <a:t>O</a:t>
              </a:r>
              <a:r>
                <a:rPr lang="en-US" altLang="ko-KR" sz="3600" b="1" spc="0" dirty="0">
                  <a:solidFill>
                    <a:srgbClr val="D9B4F7"/>
                  </a:solidFill>
                  <a:latin typeface="+mn-ea"/>
                </a:rPr>
                <a:t>N</a:t>
              </a:r>
              <a:r>
                <a:rPr lang="en-US" altLang="ko-KR" sz="3600" b="1" spc="0" dirty="0">
                  <a:solidFill>
                    <a:schemeClr val="bg1"/>
                  </a:solidFill>
                  <a:latin typeface="+mn-ea"/>
                </a:rPr>
                <a:t>E </a:t>
              </a:r>
              <a:r>
                <a:rPr lang="en-US" altLang="ko-KR" sz="3600" b="1" spc="0" dirty="0">
                  <a:solidFill>
                    <a:srgbClr val="D9B4F7"/>
                  </a:solidFill>
                  <a:latin typeface="+mn-ea"/>
                </a:rPr>
                <a:t>D</a:t>
              </a:r>
              <a:r>
                <a:rPr lang="en-US" altLang="ko-KR" sz="3600" b="1" spc="0" dirty="0">
                  <a:solidFill>
                    <a:schemeClr val="bg1"/>
                  </a:solidFill>
                  <a:latin typeface="+mn-ea"/>
                </a:rPr>
                <a:t>E</a:t>
              </a:r>
              <a:r>
                <a:rPr lang="en-US" altLang="ko-KR" sz="3600" b="1" spc="0" dirty="0">
                  <a:solidFill>
                    <a:srgbClr val="D9B4F7"/>
                  </a:solidFill>
                  <a:latin typeface="+mn-ea"/>
                </a:rPr>
                <a:t>S</a:t>
              </a:r>
              <a:r>
                <a:rPr lang="en-US" altLang="ko-KR" sz="3600" b="1" spc="0" dirty="0">
                  <a:solidFill>
                    <a:schemeClr val="bg1"/>
                  </a:solidFill>
                  <a:latin typeface="+mn-ea"/>
                </a:rPr>
                <a:t>I</a:t>
              </a:r>
              <a:r>
                <a:rPr lang="en-US" altLang="ko-KR" sz="3600" b="1" spc="0" dirty="0">
                  <a:solidFill>
                    <a:srgbClr val="D9B4F7"/>
                  </a:solidFill>
                  <a:latin typeface="+mn-ea"/>
                </a:rPr>
                <a:t>G</a:t>
              </a:r>
              <a:r>
                <a:rPr lang="en-US" altLang="ko-KR" sz="3600" b="1" spc="0" dirty="0">
                  <a:solidFill>
                    <a:schemeClr val="bg1"/>
                  </a:solidFill>
                  <a:latin typeface="+mn-ea"/>
                </a:rPr>
                <a:t>N</a:t>
              </a:r>
              <a:endParaRPr lang="ko-KR" altLang="en-US" sz="3600" b="1" spc="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BE616C4-6626-3BEF-E635-C313E2574620}"/>
                </a:ext>
              </a:extLst>
            </p:cNvPr>
            <p:cNvSpPr txBox="1"/>
            <p:nvPr userDrawn="1"/>
          </p:nvSpPr>
          <p:spPr>
            <a:xfrm>
              <a:off x="8488680" y="794163"/>
              <a:ext cx="1436291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800" b="1" spc="0" dirty="0">
                  <a:solidFill>
                    <a:schemeClr val="bg1"/>
                  </a:solidFill>
                  <a:latin typeface="+mn-ea"/>
                </a:rPr>
                <a:t>경진대회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9062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32">
          <p15:clr>
            <a:srgbClr val="FBAE40"/>
          </p15:clr>
        </p15:guide>
        <p15:guide id="2" pos="1156">
          <p15:clr>
            <a:srgbClr val="FBAE40"/>
          </p15:clr>
        </p15:guide>
        <p15:guide id="3" orient="horz" pos="2131">
          <p15:clr>
            <a:srgbClr val="FBAE40"/>
          </p15:clr>
        </p15:guide>
        <p15:guide id="4" pos="1360">
          <p15:clr>
            <a:srgbClr val="FBAE40"/>
          </p15:clr>
        </p15:guide>
        <p15:guide id="5" pos="6417">
          <p15:clr>
            <a:srgbClr val="FBAE40"/>
          </p15:clr>
        </p15:guide>
        <p15:guide id="6" pos="6622">
          <p15:clr>
            <a:srgbClr val="FBAE40"/>
          </p15:clr>
        </p15:guide>
        <p15:guide id="7" pos="7030">
          <p15:clr>
            <a:srgbClr val="FBAE40"/>
          </p15:clr>
        </p15:guide>
        <p15:guide id="8" pos="7211">
          <p15:clr>
            <a:srgbClr val="FBAE40"/>
          </p15:clr>
        </p15:guide>
        <p15:guide id="9" pos="12269">
          <p15:clr>
            <a:srgbClr val="FBAE40"/>
          </p15:clr>
        </p15:guide>
        <p15:guide id="10" pos="12473">
          <p15:clr>
            <a:srgbClr val="FBAE40"/>
          </p15:clr>
        </p15:guide>
        <p15:guide id="11" orient="horz" pos="17735">
          <p15:clr>
            <a:srgbClr val="FBAE40"/>
          </p15:clr>
        </p15:guide>
        <p15:guide id="12" orient="horz" pos="446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1610022"/>
            <a:ext cx="18629590" cy="5845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8050077"/>
            <a:ext cx="18629590" cy="19187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28028274"/>
            <a:ext cx="4859893" cy="1610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B10DE-AFC6-4949-95E6-88F2FE0C6B5E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28028274"/>
            <a:ext cx="7289840" cy="1610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28028274"/>
            <a:ext cx="4859893" cy="1610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C9886-AF1E-45BD-8B2F-085BE947B8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483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2159996" rtl="0" eaLnBrk="1" latinLnBrk="1" hangingPunct="1">
        <a:lnSpc>
          <a:spcPct val="90000"/>
        </a:lnSpc>
        <a:spcBef>
          <a:spcPct val="0"/>
        </a:spcBef>
        <a:buNone/>
        <a:defRPr sz="103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9999" indent="-539999" algn="l" defTabSz="2159996" rtl="0" eaLnBrk="1" latinLnBrk="1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19997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699995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724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859990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939988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7019986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8099984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9179982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159996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3pPr>
      <a:lvl4pPr marL="3239994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319991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399989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6479987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7559985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8639983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4.jpeg"  /><Relationship Id="rId3" Type="http://schemas.openxmlformats.org/officeDocument/2006/relationships/image" Target="../media/image5.jpeg"  /><Relationship Id="rId4" Type="http://schemas.openxmlformats.org/officeDocument/2006/relationships/image" Target="../media/image6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/>
        </p:nvSpPr>
        <p:spPr>
          <a:xfrm>
            <a:off x="2159792" y="8092522"/>
            <a:ext cx="8027988" cy="4935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Bef>
                <a:spcPts val="1200"/>
              </a:spcBef>
              <a:defRPr/>
            </a:pPr>
            <a:r>
              <a:rPr lang="ko-KR" altLang="en-US" sz="2400">
                <a:latin typeface="+mn-ea"/>
              </a:rPr>
              <a:t>저희 프로젝트는 는 규칙의 복잡성이나 플레이어 모집의 어려움 때문에 초반에는 진입 장벽이 높게 느껴지는 TRPG</a:t>
            </a:r>
            <a:r>
              <a:rPr lang="en-US" altLang="ko-KR" sz="2400">
                <a:latin typeface="+mn-ea"/>
              </a:rPr>
              <a:t>(Table Top Roll Playing)</a:t>
            </a:r>
            <a:r>
              <a:rPr lang="ko-KR" altLang="en-US" sz="2400">
                <a:latin typeface="+mn-ea"/>
              </a:rPr>
              <a:t>의 고질적인 문제점을 보안하고, 누구나 TRPG를 쉽고 즐겁게 경험할 수 있는 온라인 채팅 플랫폼을 구축하는 것을 목표로 합니다.</a:t>
            </a:r>
            <a:endParaRPr lang="ko-KR" altLang="en-US" sz="2400">
              <a:latin typeface="+mn-ea"/>
            </a:endParaRPr>
          </a:p>
          <a:p>
            <a:pPr lvl="0" algn="just">
              <a:spcBef>
                <a:spcPts val="1200"/>
              </a:spcBef>
              <a:defRPr/>
            </a:pPr>
            <a:endParaRPr lang="ko-KR" altLang="en-US" sz="2400">
              <a:latin typeface="+mn-ea"/>
            </a:endParaRPr>
          </a:p>
          <a:p>
            <a:pPr lvl="0" algn="just">
              <a:spcBef>
                <a:spcPts val="1200"/>
              </a:spcBef>
              <a:defRPr/>
            </a:pPr>
            <a:r>
              <a:rPr lang="ko-KR" altLang="en-US" sz="2400">
                <a:latin typeface="+mn-ea"/>
              </a:rPr>
              <a:t>주사위 굴림, 캐릭터 시트 관리 등 TRPG 플레이에 필요한 기능들을 자동화하여 편리하게 이용할 수 있도록 하는 기능들을 제공함으로써</a:t>
            </a:r>
            <a:r>
              <a:rPr lang="en-US" altLang="ko-KR" sz="2400">
                <a:latin typeface="+mn-ea"/>
              </a:rPr>
              <a:t>,</a:t>
            </a:r>
            <a:r>
              <a:rPr lang="ko-KR" altLang="en-US" sz="2400">
                <a:latin typeface="+mn-ea"/>
              </a:rPr>
              <a:t> 저희 플랫폼은 TRPG를 처음 접하는 분들에게는 친근한 입문서가 되고, 기존 플레이어에게는 더욱 풍부한 경험을 제공하려 합니다</a:t>
            </a:r>
            <a:r>
              <a:rPr lang="en-US" altLang="ko-KR" sz="2400">
                <a:latin typeface="+mn-ea"/>
              </a:rPr>
              <a:t>.</a:t>
            </a:r>
            <a:endParaRPr lang="en-US" altLang="ko-KR" sz="2400">
              <a:latin typeface="+mn-ea"/>
            </a:endParaRPr>
          </a:p>
          <a:p>
            <a:pPr lvl="0" algn="just">
              <a:spcBef>
                <a:spcPts val="1200"/>
              </a:spcBef>
              <a:defRPr/>
            </a:pPr>
            <a:endParaRPr lang="ko-KR" altLang="en-US" sz="2400">
              <a:latin typeface="+mn-ea"/>
            </a:endParaRPr>
          </a:p>
        </p:txBody>
      </p:sp>
      <p:cxnSp>
        <p:nvCxnSpPr>
          <p:cNvPr id="32" name="직선 연결선 31"/>
          <p:cNvCxnSpPr/>
          <p:nvPr/>
        </p:nvCxnSpPr>
        <p:spPr>
          <a:xfrm>
            <a:off x="1835148" y="16876750"/>
            <a:ext cx="8677277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274550" y="18833580"/>
            <a:ext cx="7844374" cy="8987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Bef>
                <a:spcPts val="1200"/>
              </a:spcBef>
              <a:defRPr/>
            </a:pPr>
            <a:r>
              <a:rPr lang="ko-KR" altLang="en-US" sz="2400">
                <a:solidFill>
                  <a:schemeClr val="dk1"/>
                </a:solidFill>
                <a:latin typeface="+mn-ea"/>
              </a:rPr>
              <a:t>본 프로젝트에서는 TRPG 시스템 중 가장 유명하고 몰입감 높은 [크툴루의 부름(Call of Cthulhu)]을 테마로 한 온라인 롤 플레잉 채팅 플랫폼을 구현했습니다.</a:t>
            </a:r>
            <a:endParaRPr lang="ko-KR" altLang="en-US" sz="2400">
              <a:solidFill>
                <a:schemeClr val="dk1"/>
              </a:solidFill>
              <a:latin typeface="+mn-ea"/>
            </a:endParaRPr>
          </a:p>
          <a:p>
            <a:pPr lvl="0" algn="just">
              <a:spcBef>
                <a:spcPts val="1200"/>
              </a:spcBef>
              <a:defRPr/>
            </a:pPr>
            <a:endParaRPr lang="en-US" altLang="ko-KR" sz="2400">
              <a:solidFill>
                <a:schemeClr val="dk1"/>
              </a:solidFill>
              <a:latin typeface="+mn-ea"/>
            </a:endParaRPr>
          </a:p>
          <a:p>
            <a:pPr lvl="0" algn="just">
              <a:spcBef>
                <a:spcPts val="1200"/>
              </a:spcBef>
              <a:defRPr/>
            </a:pPr>
            <a:r>
              <a:rPr lang="ko-KR" altLang="en-US" sz="2400">
                <a:solidFill>
                  <a:schemeClr val="dk1"/>
                </a:solidFill>
                <a:latin typeface="+mn-ea"/>
              </a:rPr>
              <a:t>아래로는 본 프로젝트의 주요 특징 및 기능 설명입니다</a:t>
            </a:r>
            <a:r>
              <a:rPr lang="en-US" altLang="ko-KR" sz="2400">
                <a:solidFill>
                  <a:schemeClr val="dk1"/>
                </a:solidFill>
                <a:latin typeface="+mn-ea"/>
              </a:rPr>
              <a:t>:</a:t>
            </a:r>
            <a:r>
              <a:rPr lang="ko-KR" altLang="en-US" sz="2400">
                <a:solidFill>
                  <a:schemeClr val="dk1"/>
                </a:solidFill>
                <a:latin typeface="+mn-ea"/>
              </a:rPr>
              <a:t> </a:t>
            </a:r>
            <a:endParaRPr lang="ko-KR" altLang="en-US" sz="2400">
              <a:solidFill>
                <a:schemeClr val="dk1"/>
              </a:solidFill>
              <a:latin typeface="+mn-ea"/>
            </a:endParaRPr>
          </a:p>
          <a:p>
            <a:pPr lvl="0" algn="just">
              <a:spcBef>
                <a:spcPts val="1200"/>
              </a:spcBef>
              <a:defRPr/>
            </a:pPr>
            <a:endParaRPr lang="ko-KR" altLang="en-US" sz="2400">
              <a:solidFill>
                <a:schemeClr val="dk1"/>
              </a:solidFill>
              <a:latin typeface="+mn-ea"/>
            </a:endParaRPr>
          </a:p>
          <a:p>
            <a:pPr lvl="0" algn="just">
              <a:spcBef>
                <a:spcPts val="1200"/>
              </a:spcBef>
              <a:defRPr/>
            </a:pPr>
            <a:r>
              <a:rPr lang="en-US" altLang="ko-KR" sz="2400" b="1">
                <a:solidFill>
                  <a:schemeClr val="dk1"/>
                </a:solidFill>
                <a:latin typeface="+mn-ea"/>
              </a:rPr>
              <a:t>1)</a:t>
            </a:r>
            <a:r>
              <a:rPr lang="ko-KR" altLang="en-US" sz="2400" b="1">
                <a:solidFill>
                  <a:schemeClr val="dk1"/>
                </a:solidFill>
                <a:latin typeface="+mn-ea"/>
              </a:rPr>
              <a:t> 채팅 기반 플레이</a:t>
            </a:r>
            <a:r>
              <a:rPr lang="ko-KR" altLang="en-US" sz="2400">
                <a:solidFill>
                  <a:schemeClr val="dk1"/>
                </a:solidFill>
                <a:latin typeface="+mn-ea"/>
              </a:rPr>
              <a:t>: 마이크 없이 오직 텍스트 기반 채팅창을 통해 롤 플레이를 진행할 수 있도록 설계되어, TRPG 특유의 분위기를 살리면서도 언제 어디서든 접근 가능한 환경을 제공합니다.</a:t>
            </a:r>
            <a:endParaRPr lang="ko-KR" altLang="en-US" sz="2400">
              <a:solidFill>
                <a:schemeClr val="dk1"/>
              </a:solidFill>
              <a:latin typeface="+mn-ea"/>
            </a:endParaRPr>
          </a:p>
          <a:p>
            <a:pPr lvl="0" algn="just">
              <a:spcBef>
                <a:spcPts val="1200"/>
              </a:spcBef>
              <a:defRPr/>
            </a:pPr>
            <a:r>
              <a:rPr lang="en-US" altLang="ko-KR" sz="2400" b="1">
                <a:solidFill>
                  <a:schemeClr val="dk1"/>
                </a:solidFill>
                <a:latin typeface="+mn-ea"/>
              </a:rPr>
              <a:t>2)</a:t>
            </a:r>
            <a:r>
              <a:rPr lang="ko-KR" altLang="en-US" sz="2400" b="1">
                <a:solidFill>
                  <a:schemeClr val="dk1"/>
                </a:solidFill>
                <a:latin typeface="+mn-ea"/>
              </a:rPr>
              <a:t> 구글 데이터베이스 연동 로그인</a:t>
            </a:r>
            <a:r>
              <a:rPr lang="ko-KR" altLang="en-US" sz="2400">
                <a:solidFill>
                  <a:schemeClr val="dk1"/>
                </a:solidFill>
                <a:latin typeface="+mn-ea"/>
              </a:rPr>
              <a:t>: 사용자 관리의 편의성과 안정성을 위해 구글 데이터베이스와 연동된 로그인 시스템을 구현했습니다. 이를 통해 사용자들은 빠르고 안전하게 플랫폼에 접속할 수 있습니다.</a:t>
            </a:r>
            <a:endParaRPr lang="ko-KR" altLang="en-US" sz="2400">
              <a:solidFill>
                <a:schemeClr val="dk1"/>
              </a:solidFill>
              <a:latin typeface="+mn-ea"/>
            </a:endParaRPr>
          </a:p>
          <a:p>
            <a:pPr lvl="0" algn="just">
              <a:spcBef>
                <a:spcPts val="1200"/>
              </a:spcBef>
              <a:defRPr/>
            </a:pPr>
            <a:r>
              <a:rPr lang="en-US" altLang="ko-KR" sz="2400" b="1">
                <a:solidFill>
                  <a:schemeClr val="dk1"/>
                </a:solidFill>
                <a:latin typeface="+mn-ea"/>
              </a:rPr>
              <a:t>3)</a:t>
            </a:r>
            <a:r>
              <a:rPr lang="ko-KR" altLang="en-US" sz="2400" b="1">
                <a:solidFill>
                  <a:schemeClr val="dk1"/>
                </a:solidFill>
                <a:latin typeface="+mn-ea"/>
              </a:rPr>
              <a:t> 원활한 롤 플레이 소통 환경</a:t>
            </a:r>
            <a:r>
              <a:rPr lang="ko-KR" altLang="en-US" sz="2400">
                <a:solidFill>
                  <a:schemeClr val="dk1"/>
                </a:solidFill>
                <a:latin typeface="+mn-ea"/>
              </a:rPr>
              <a:t>: 게임 진행 화면과 채팅창의 화면 차지 비율을 롤 플레잉 진행에 최적화여 가족성이 떨어지지 않도록 적당히 조절하여, 사용자 간의 소통과 게임 마스터(GM)의 시나리오 진행을 효율적으로 지원합니다.</a:t>
            </a:r>
            <a:endParaRPr lang="ko-KR" altLang="en-US" sz="2400">
              <a:solidFill>
                <a:schemeClr val="dk1"/>
              </a:solidFill>
              <a:latin typeface="+mn-ea"/>
            </a:endParaRPr>
          </a:p>
          <a:p>
            <a:pPr lvl="0" algn="just">
              <a:spcBef>
                <a:spcPts val="1200"/>
              </a:spcBef>
              <a:defRPr/>
            </a:pPr>
            <a:endParaRPr lang="ko-KR" altLang="en-US" sz="2400">
              <a:solidFill>
                <a:schemeClr val="dk1"/>
              </a:solidFill>
              <a:latin typeface="+mn-ea"/>
            </a:endParaRPr>
          </a:p>
          <a:p>
            <a:pPr lvl="0" algn="just">
              <a:spcBef>
                <a:spcPts val="1200"/>
              </a:spcBef>
              <a:defRPr/>
            </a:pPr>
            <a:endParaRPr lang="en-US" altLang="ko-KR" sz="2400">
              <a:latin typeface="+mn-ea"/>
            </a:endParaRPr>
          </a:p>
        </p:txBody>
      </p:sp>
      <p:cxnSp>
        <p:nvCxnSpPr>
          <p:cNvPr id="40" name="직선 연결선 39"/>
          <p:cNvCxnSpPr/>
          <p:nvPr/>
        </p:nvCxnSpPr>
        <p:spPr>
          <a:xfrm>
            <a:off x="1835148" y="28151632"/>
            <a:ext cx="8677277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/>
          <p:cNvGrpSpPr/>
          <p:nvPr/>
        </p:nvGrpSpPr>
        <p:grpSpPr>
          <a:xfrm rot="0">
            <a:off x="1835148" y="7091362"/>
            <a:ext cx="8677277" cy="758547"/>
            <a:chOff x="1835148" y="7091362"/>
            <a:chExt cx="8677277" cy="758547"/>
          </a:xfrm>
        </p:grpSpPr>
        <p:grpSp>
          <p:nvGrpSpPr>
            <p:cNvPr id="46" name="그룹 45"/>
            <p:cNvGrpSpPr/>
            <p:nvPr/>
          </p:nvGrpSpPr>
          <p:grpSpPr>
            <a:xfrm rot="0">
              <a:off x="4355872" y="7091362"/>
              <a:ext cx="3635829" cy="280943"/>
              <a:chOff x="4355872" y="7091362"/>
              <a:chExt cx="3635829" cy="280943"/>
            </a:xfrm>
          </p:grpSpPr>
          <p:sp>
            <p:nvSpPr>
              <p:cNvPr id="21" name="자유형: 도형 20"/>
              <p:cNvSpPr/>
              <p:nvPr/>
            </p:nvSpPr>
            <p:spPr>
              <a:xfrm>
                <a:off x="4355872" y="7091362"/>
                <a:ext cx="269354" cy="280943"/>
              </a:xfrm>
              <a:custGeom>
                <a:avLst/>
                <a:gdLst>
                  <a:gd name="connsiteX0" fmla="*/ 101155 w 228028"/>
                  <a:gd name="connsiteY0" fmla="*/ 0 h 237839"/>
                  <a:gd name="connsiteX1" fmla="*/ 0 w 228028"/>
                  <a:gd name="connsiteY1" fmla="*/ 237649 h 237839"/>
                  <a:gd name="connsiteX2" fmla="*/ 228029 w 228028"/>
                  <a:gd name="connsiteY2" fmla="*/ 237839 h 237839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8028" h="237839">
                    <a:moveTo>
                      <a:pt x="101155" y="0"/>
                    </a:moveTo>
                    <a:lnTo>
                      <a:pt x="0" y="237649"/>
                    </a:lnTo>
                    <a:lnTo>
                      <a:pt x="228029" y="237839"/>
                    </a:lnTo>
                    <a:close/>
                  </a:path>
                </a:pathLst>
              </a:custGeom>
              <a:solidFill>
                <a:srgbClr val="624d95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lvl="0">
                  <a:defRPr/>
                </a:pPr>
                <a:endParaRPr lang="ko-KR" altLang="en-US"/>
              </a:p>
            </p:txBody>
          </p:sp>
          <p:sp>
            <p:nvSpPr>
              <p:cNvPr id="22" name="자유형: 도형 21"/>
              <p:cNvSpPr/>
              <p:nvPr/>
            </p:nvSpPr>
            <p:spPr>
              <a:xfrm>
                <a:off x="7722347" y="7091362"/>
                <a:ext cx="269354" cy="280717"/>
              </a:xfrm>
              <a:custGeom>
                <a:avLst/>
                <a:gdLst>
                  <a:gd name="connsiteX0" fmla="*/ 126873 w 228028"/>
                  <a:gd name="connsiteY0" fmla="*/ 0 h 237648"/>
                  <a:gd name="connsiteX1" fmla="*/ 228029 w 228028"/>
                  <a:gd name="connsiteY1" fmla="*/ 237649 h 237648"/>
                  <a:gd name="connsiteX2" fmla="*/ 0 w 228028"/>
                  <a:gd name="connsiteY2" fmla="*/ 237649 h 237648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8028" h="237648">
                    <a:moveTo>
                      <a:pt x="126873" y="0"/>
                    </a:moveTo>
                    <a:lnTo>
                      <a:pt x="228029" y="237649"/>
                    </a:lnTo>
                    <a:lnTo>
                      <a:pt x="0" y="237649"/>
                    </a:lnTo>
                    <a:close/>
                  </a:path>
                </a:pathLst>
              </a:custGeom>
              <a:solidFill>
                <a:srgbClr val="624d95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lvl="0">
                  <a:defRPr/>
                </a:pPr>
                <a:endParaRPr lang="ko-KR" altLang="en-US"/>
              </a:p>
            </p:txBody>
          </p:sp>
        </p:grpSp>
        <p:sp>
          <p:nvSpPr>
            <p:cNvPr id="29" name="왼쪽 대괄호 28"/>
            <p:cNvSpPr/>
            <p:nvPr/>
          </p:nvSpPr>
          <p:spPr>
            <a:xfrm rot="5400000">
              <a:off x="5973626" y="3233601"/>
              <a:ext cx="400321" cy="8677277"/>
            </a:xfrm>
            <a:prstGeom prst="leftBracket">
              <a:avLst>
                <a:gd name="adj" fmla="val 91666"/>
              </a:avLst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4" name="자유형: 도형 23"/>
            <p:cNvSpPr/>
            <p:nvPr/>
          </p:nvSpPr>
          <p:spPr>
            <a:xfrm>
              <a:off x="4475135" y="7091362"/>
              <a:ext cx="3393542" cy="758547"/>
            </a:xfrm>
            <a:custGeom>
              <a:avLst/>
              <a:gdLst>
                <a:gd name="connsiteX0" fmla="*/ 2208943 w 2434589"/>
                <a:gd name="connsiteY0" fmla="*/ 576548 h 576548"/>
                <a:gd name="connsiteX1" fmla="*/ 225743 w 2434589"/>
                <a:gd name="connsiteY1" fmla="*/ 576548 h 576548"/>
                <a:gd name="connsiteX2" fmla="*/ 116681 w 2434589"/>
                <a:gd name="connsiteY2" fmla="*/ 488156 h 576548"/>
                <a:gd name="connsiteX3" fmla="*/ 0 w 2434589"/>
                <a:gd name="connsiteY3" fmla="*/ 0 h 576548"/>
                <a:gd name="connsiteX4" fmla="*/ 2434590 w 2434589"/>
                <a:gd name="connsiteY4" fmla="*/ 0 h 576548"/>
                <a:gd name="connsiteX5" fmla="*/ 2318004 w 2434589"/>
                <a:gd name="connsiteY5" fmla="*/ 488156 h 576548"/>
                <a:gd name="connsiteX6" fmla="*/ 2208943 w 2434589"/>
                <a:gd name="connsiteY6" fmla="*/ 576548 h 576548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4589" h="576548">
                  <a:moveTo>
                    <a:pt x="2208943" y="576548"/>
                  </a:moveTo>
                  <a:lnTo>
                    <a:pt x="225743" y="576548"/>
                  </a:lnTo>
                  <a:cubicBezTo>
                    <a:pt x="174022" y="576548"/>
                    <a:pt x="129064" y="540068"/>
                    <a:pt x="116681" y="488156"/>
                  </a:cubicBezTo>
                  <a:lnTo>
                    <a:pt x="0" y="0"/>
                  </a:lnTo>
                  <a:lnTo>
                    <a:pt x="2434590" y="0"/>
                  </a:lnTo>
                  <a:lnTo>
                    <a:pt x="2318004" y="488156"/>
                  </a:lnTo>
                  <a:cubicBezTo>
                    <a:pt x="2305622" y="540068"/>
                    <a:pt x="2260569" y="576548"/>
                    <a:pt x="2208943" y="576548"/>
                  </a:cubicBezTo>
                  <a:close/>
                </a:path>
              </a:pathLst>
            </a:custGeom>
            <a:solidFill>
              <a:srgbClr val="65b4d9"/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662580" y="7186200"/>
              <a:ext cx="303643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3200" b="1">
                  <a:solidFill>
                    <a:schemeClr val="bg1"/>
                  </a:solidFill>
                  <a:latin typeface="+mn-ea"/>
                </a:rPr>
                <a:t>과제 목적</a:t>
              </a:r>
              <a:endParaRPr lang="ko-KR" altLang="en-US" sz="3200" b="1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4" name="그룹 3"/>
          <p:cNvGrpSpPr/>
          <p:nvPr/>
        </p:nvGrpSpPr>
        <p:grpSpPr>
          <a:xfrm rot="0">
            <a:off x="1835148" y="17599374"/>
            <a:ext cx="8677277" cy="758547"/>
            <a:chOff x="1835148" y="16711883"/>
            <a:chExt cx="8677277" cy="758547"/>
          </a:xfrm>
        </p:grpSpPr>
        <p:grpSp>
          <p:nvGrpSpPr>
            <p:cNvPr id="45" name="그룹 44"/>
            <p:cNvGrpSpPr/>
            <p:nvPr/>
          </p:nvGrpSpPr>
          <p:grpSpPr>
            <a:xfrm rot="0">
              <a:off x="4355872" y="16711883"/>
              <a:ext cx="3635829" cy="280943"/>
              <a:chOff x="4355872" y="16711883"/>
              <a:chExt cx="3635829" cy="280943"/>
            </a:xfrm>
          </p:grpSpPr>
          <p:sp>
            <p:nvSpPr>
              <p:cNvPr id="35" name="자유형: 도형 34"/>
              <p:cNvSpPr/>
              <p:nvPr/>
            </p:nvSpPr>
            <p:spPr>
              <a:xfrm>
                <a:off x="4355872" y="16711883"/>
                <a:ext cx="269354" cy="280943"/>
              </a:xfrm>
              <a:custGeom>
                <a:avLst/>
                <a:gdLst>
                  <a:gd name="connsiteX0" fmla="*/ 101155 w 228028"/>
                  <a:gd name="connsiteY0" fmla="*/ 0 h 237839"/>
                  <a:gd name="connsiteX1" fmla="*/ 0 w 228028"/>
                  <a:gd name="connsiteY1" fmla="*/ 237649 h 237839"/>
                  <a:gd name="connsiteX2" fmla="*/ 228029 w 228028"/>
                  <a:gd name="connsiteY2" fmla="*/ 237839 h 237839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8028" h="237839">
                    <a:moveTo>
                      <a:pt x="101155" y="0"/>
                    </a:moveTo>
                    <a:lnTo>
                      <a:pt x="0" y="237649"/>
                    </a:lnTo>
                    <a:lnTo>
                      <a:pt x="228029" y="237839"/>
                    </a:lnTo>
                    <a:close/>
                  </a:path>
                </a:pathLst>
              </a:custGeom>
              <a:solidFill>
                <a:srgbClr val="624d95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lvl="0">
                  <a:defRPr/>
                </a:pPr>
                <a:endParaRPr lang="ko-KR" altLang="en-US"/>
              </a:p>
            </p:txBody>
          </p:sp>
          <p:sp>
            <p:nvSpPr>
              <p:cNvPr id="36" name="자유형: 도형 35"/>
              <p:cNvSpPr/>
              <p:nvPr/>
            </p:nvSpPr>
            <p:spPr>
              <a:xfrm>
                <a:off x="7722347" y="16711883"/>
                <a:ext cx="269354" cy="280717"/>
              </a:xfrm>
              <a:custGeom>
                <a:avLst/>
                <a:gdLst>
                  <a:gd name="connsiteX0" fmla="*/ 126873 w 228028"/>
                  <a:gd name="connsiteY0" fmla="*/ 0 h 237648"/>
                  <a:gd name="connsiteX1" fmla="*/ 228029 w 228028"/>
                  <a:gd name="connsiteY1" fmla="*/ 237649 h 237648"/>
                  <a:gd name="connsiteX2" fmla="*/ 0 w 228028"/>
                  <a:gd name="connsiteY2" fmla="*/ 237649 h 237648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8028" h="237648">
                    <a:moveTo>
                      <a:pt x="126873" y="0"/>
                    </a:moveTo>
                    <a:lnTo>
                      <a:pt x="228029" y="237649"/>
                    </a:lnTo>
                    <a:lnTo>
                      <a:pt x="0" y="237649"/>
                    </a:lnTo>
                    <a:close/>
                  </a:path>
                </a:pathLst>
              </a:custGeom>
              <a:solidFill>
                <a:srgbClr val="624d95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lvl="0">
                  <a:defRPr/>
                </a:pPr>
                <a:endParaRPr lang="ko-KR" altLang="en-US"/>
              </a:p>
            </p:txBody>
          </p:sp>
        </p:grpSp>
        <p:sp>
          <p:nvSpPr>
            <p:cNvPr id="33" name="왼쪽 대괄호 32"/>
            <p:cNvSpPr/>
            <p:nvPr/>
          </p:nvSpPr>
          <p:spPr>
            <a:xfrm rot="5400000">
              <a:off x="5973626" y="12854122"/>
              <a:ext cx="400321" cy="8677277"/>
            </a:xfrm>
            <a:prstGeom prst="leftBracket">
              <a:avLst>
                <a:gd name="adj" fmla="val 91666"/>
              </a:avLst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37" name="자유형: 도형 36"/>
            <p:cNvSpPr/>
            <p:nvPr/>
          </p:nvSpPr>
          <p:spPr>
            <a:xfrm>
              <a:off x="4475135" y="16711883"/>
              <a:ext cx="3393542" cy="758547"/>
            </a:xfrm>
            <a:custGeom>
              <a:avLst/>
              <a:gdLst>
                <a:gd name="connsiteX0" fmla="*/ 2208943 w 2434589"/>
                <a:gd name="connsiteY0" fmla="*/ 576548 h 576548"/>
                <a:gd name="connsiteX1" fmla="*/ 225743 w 2434589"/>
                <a:gd name="connsiteY1" fmla="*/ 576548 h 576548"/>
                <a:gd name="connsiteX2" fmla="*/ 116681 w 2434589"/>
                <a:gd name="connsiteY2" fmla="*/ 488156 h 576548"/>
                <a:gd name="connsiteX3" fmla="*/ 0 w 2434589"/>
                <a:gd name="connsiteY3" fmla="*/ 0 h 576548"/>
                <a:gd name="connsiteX4" fmla="*/ 2434590 w 2434589"/>
                <a:gd name="connsiteY4" fmla="*/ 0 h 576548"/>
                <a:gd name="connsiteX5" fmla="*/ 2318004 w 2434589"/>
                <a:gd name="connsiteY5" fmla="*/ 488156 h 576548"/>
                <a:gd name="connsiteX6" fmla="*/ 2208943 w 2434589"/>
                <a:gd name="connsiteY6" fmla="*/ 576548 h 576548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4589" h="576548">
                  <a:moveTo>
                    <a:pt x="2208943" y="576548"/>
                  </a:moveTo>
                  <a:lnTo>
                    <a:pt x="225743" y="576548"/>
                  </a:lnTo>
                  <a:cubicBezTo>
                    <a:pt x="174022" y="576548"/>
                    <a:pt x="129064" y="540068"/>
                    <a:pt x="116681" y="488156"/>
                  </a:cubicBezTo>
                  <a:lnTo>
                    <a:pt x="0" y="0"/>
                  </a:lnTo>
                  <a:lnTo>
                    <a:pt x="2434590" y="0"/>
                  </a:lnTo>
                  <a:lnTo>
                    <a:pt x="2318004" y="488156"/>
                  </a:lnTo>
                  <a:cubicBezTo>
                    <a:pt x="2305622" y="540068"/>
                    <a:pt x="2260569" y="576548"/>
                    <a:pt x="2208943" y="576548"/>
                  </a:cubicBezTo>
                  <a:close/>
                </a:path>
              </a:pathLst>
            </a:custGeom>
            <a:solidFill>
              <a:srgbClr val="65b4d9"/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662580" y="16805402"/>
              <a:ext cx="303643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3200" b="1">
                  <a:solidFill>
                    <a:schemeClr val="bg1"/>
                  </a:solidFill>
                  <a:latin typeface="+mn-ea"/>
                </a:rPr>
                <a:t>과제 내용</a:t>
              </a:r>
              <a:endParaRPr lang="ko-KR" altLang="en-US" sz="3200" b="1">
                <a:solidFill>
                  <a:schemeClr val="bg1"/>
                </a:solidFill>
                <a:latin typeface="+mn-ea"/>
              </a:endParaRPr>
            </a:p>
          </p:txBody>
        </p:sp>
      </p:grpSp>
      <p:cxnSp>
        <p:nvCxnSpPr>
          <p:cNvPr id="13" name="직선 연결선 12"/>
          <p:cNvCxnSpPr/>
          <p:nvPr/>
        </p:nvCxnSpPr>
        <p:spPr>
          <a:xfrm>
            <a:off x="11147423" y="15009544"/>
            <a:ext cx="8677277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644206" y="17090796"/>
            <a:ext cx="7591902" cy="4567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Bef>
                <a:spcPts val="1200"/>
              </a:spcBef>
              <a:defRPr/>
            </a:pPr>
            <a:r>
              <a:rPr lang="ko-KR" altLang="en-US" sz="2400">
                <a:latin typeface="+mn-ea"/>
              </a:rPr>
              <a:t>저희는 본 프로젝트가 TRPG를 영상 매체 등을 통해 접했으나 높은 진입장벽으로 인해 쉽게 참여하지 못했던 잠재적 유저층에게 접근 기회를 제공할 수 있기를 바랍니다</a:t>
            </a:r>
            <a:r>
              <a:rPr lang="en-US" altLang="ko-KR" sz="2400">
                <a:latin typeface="+mn-ea"/>
              </a:rPr>
              <a:t>.</a:t>
            </a:r>
            <a:endParaRPr lang="en-US" altLang="ko-KR" sz="2400">
              <a:latin typeface="+mn-ea"/>
            </a:endParaRPr>
          </a:p>
          <a:p>
            <a:pPr lvl="0" algn="just">
              <a:spcBef>
                <a:spcPts val="1200"/>
              </a:spcBef>
              <a:defRPr/>
            </a:pPr>
            <a:r>
              <a:rPr lang="ko-KR" altLang="en-US" sz="2400">
                <a:latin typeface="+mn-ea"/>
              </a:rPr>
              <a:t>또한, 본 프로젝트에서 제공되는 편의성 기능(캐릭터 시트 저장, 다이스 롤 등)을 활용하여 입문자와 경험자 모두에게 능동적이고 효율적인 게임 진행을 위한 실질적인 편의를 제공하여</a:t>
            </a:r>
            <a:r>
              <a:rPr lang="en-US" altLang="ko-KR" sz="2400">
                <a:latin typeface="+mn-ea"/>
              </a:rPr>
              <a:t>,</a:t>
            </a:r>
            <a:r>
              <a:rPr lang="ko-KR" altLang="en-US" sz="2400">
                <a:latin typeface="+mn-ea"/>
              </a:rPr>
              <a:t> 롤 플레잉 장르의 인지도 향상과 성장에 기여할 수 있으면 좋겠습니다.</a:t>
            </a:r>
            <a:endParaRPr lang="ko-KR" altLang="en-US" sz="2400">
              <a:latin typeface="+mn-ea"/>
            </a:endParaRPr>
          </a:p>
          <a:p>
            <a:pPr lvl="0" algn="just">
              <a:spcBef>
                <a:spcPts val="1200"/>
              </a:spcBef>
              <a:defRPr/>
            </a:pPr>
            <a:endParaRPr lang="ko-KR" altLang="en-US" sz="2400">
              <a:latin typeface="+mn-ea"/>
            </a:endParaRPr>
          </a:p>
          <a:p>
            <a:pPr lvl="0" algn="just">
              <a:spcBef>
                <a:spcPts val="1200"/>
              </a:spcBef>
              <a:defRPr/>
            </a:pPr>
            <a:endParaRPr lang="ko-KR" altLang="en-US" sz="2400">
              <a:latin typeface="+mn-ea"/>
            </a:endParaRPr>
          </a:p>
        </p:txBody>
      </p:sp>
      <p:cxnSp>
        <p:nvCxnSpPr>
          <p:cNvPr id="16" name="직선 연결선 15"/>
          <p:cNvCxnSpPr/>
          <p:nvPr/>
        </p:nvCxnSpPr>
        <p:spPr>
          <a:xfrm>
            <a:off x="11147423" y="25021520"/>
            <a:ext cx="8677277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/>
          <p:cNvGrpSpPr/>
          <p:nvPr/>
        </p:nvGrpSpPr>
        <p:grpSpPr>
          <a:xfrm rot="0">
            <a:off x="11147423" y="15814746"/>
            <a:ext cx="8677277" cy="758547"/>
            <a:chOff x="11147423" y="12858799"/>
            <a:chExt cx="8677277" cy="758547"/>
          </a:xfrm>
        </p:grpSpPr>
        <p:grpSp>
          <p:nvGrpSpPr>
            <p:cNvPr id="44" name="그룹 43"/>
            <p:cNvGrpSpPr/>
            <p:nvPr/>
          </p:nvGrpSpPr>
          <p:grpSpPr>
            <a:xfrm rot="0">
              <a:off x="12753023" y="12863261"/>
              <a:ext cx="5466076" cy="280943"/>
              <a:chOff x="12753023" y="12863261"/>
              <a:chExt cx="5466076" cy="280943"/>
            </a:xfrm>
          </p:grpSpPr>
          <p:sp>
            <p:nvSpPr>
              <p:cNvPr id="20" name="자유형: 도형 19"/>
              <p:cNvSpPr/>
              <p:nvPr/>
            </p:nvSpPr>
            <p:spPr>
              <a:xfrm>
                <a:off x="12753023" y="12863261"/>
                <a:ext cx="269354" cy="280943"/>
              </a:xfrm>
              <a:custGeom>
                <a:avLst/>
                <a:gdLst>
                  <a:gd name="connsiteX0" fmla="*/ 101155 w 228028"/>
                  <a:gd name="connsiteY0" fmla="*/ 0 h 237839"/>
                  <a:gd name="connsiteX1" fmla="*/ 0 w 228028"/>
                  <a:gd name="connsiteY1" fmla="*/ 237649 h 237839"/>
                  <a:gd name="connsiteX2" fmla="*/ 228029 w 228028"/>
                  <a:gd name="connsiteY2" fmla="*/ 237839 h 237839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8028" h="237839">
                    <a:moveTo>
                      <a:pt x="101155" y="0"/>
                    </a:moveTo>
                    <a:lnTo>
                      <a:pt x="0" y="237649"/>
                    </a:lnTo>
                    <a:lnTo>
                      <a:pt x="228029" y="237839"/>
                    </a:lnTo>
                    <a:close/>
                  </a:path>
                </a:pathLst>
              </a:custGeom>
              <a:solidFill>
                <a:srgbClr val="624d95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lvl="0">
                  <a:defRPr/>
                </a:pPr>
                <a:endParaRPr lang="ko-KR" altLang="en-US"/>
              </a:p>
            </p:txBody>
          </p:sp>
          <p:sp>
            <p:nvSpPr>
              <p:cNvPr id="23" name="자유형: 도형 22"/>
              <p:cNvSpPr/>
              <p:nvPr/>
            </p:nvSpPr>
            <p:spPr>
              <a:xfrm>
                <a:off x="17949744" y="12863261"/>
                <a:ext cx="269354" cy="280717"/>
              </a:xfrm>
              <a:custGeom>
                <a:avLst/>
                <a:gdLst>
                  <a:gd name="connsiteX0" fmla="*/ 126873 w 228028"/>
                  <a:gd name="connsiteY0" fmla="*/ 0 h 237648"/>
                  <a:gd name="connsiteX1" fmla="*/ 228029 w 228028"/>
                  <a:gd name="connsiteY1" fmla="*/ 237649 h 237648"/>
                  <a:gd name="connsiteX2" fmla="*/ 0 w 228028"/>
                  <a:gd name="connsiteY2" fmla="*/ 237649 h 237648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8028" h="237648">
                    <a:moveTo>
                      <a:pt x="126873" y="0"/>
                    </a:moveTo>
                    <a:lnTo>
                      <a:pt x="228029" y="237649"/>
                    </a:lnTo>
                    <a:lnTo>
                      <a:pt x="0" y="237649"/>
                    </a:lnTo>
                    <a:close/>
                  </a:path>
                </a:pathLst>
              </a:custGeom>
              <a:solidFill>
                <a:srgbClr val="624d95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lvl="0">
                  <a:defRPr/>
                </a:pPr>
                <a:endParaRPr lang="ko-KR" altLang="en-US"/>
              </a:p>
            </p:txBody>
          </p:sp>
        </p:grpSp>
        <p:sp>
          <p:nvSpPr>
            <p:cNvPr id="15" name="왼쪽 대괄호 14"/>
            <p:cNvSpPr/>
            <p:nvPr/>
          </p:nvSpPr>
          <p:spPr>
            <a:xfrm rot="5400000">
              <a:off x="15285901" y="9005500"/>
              <a:ext cx="400321" cy="8677277"/>
            </a:xfrm>
            <a:prstGeom prst="leftBracket">
              <a:avLst>
                <a:gd name="adj" fmla="val 91666"/>
              </a:avLst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43" name="그래픽 30"/>
            <p:cNvSpPr/>
            <p:nvPr/>
          </p:nvSpPr>
          <p:spPr>
            <a:xfrm>
              <a:off x="12868823" y="12858799"/>
              <a:ext cx="5234476" cy="758547"/>
            </a:xfrm>
            <a:custGeom>
              <a:avLst/>
              <a:gdLst>
                <a:gd name="connsiteX0" fmla="*/ 3692557 w 3918203"/>
                <a:gd name="connsiteY0" fmla="*/ 576548 h 576548"/>
                <a:gd name="connsiteX1" fmla="*/ 225647 w 3918203"/>
                <a:gd name="connsiteY1" fmla="*/ 576548 h 576548"/>
                <a:gd name="connsiteX2" fmla="*/ 116586 w 3918203"/>
                <a:gd name="connsiteY2" fmla="*/ 488156 h 576548"/>
                <a:gd name="connsiteX3" fmla="*/ 0 w 3918203"/>
                <a:gd name="connsiteY3" fmla="*/ 0 h 576548"/>
                <a:gd name="connsiteX4" fmla="*/ 3918204 w 3918203"/>
                <a:gd name="connsiteY4" fmla="*/ 0 h 576548"/>
                <a:gd name="connsiteX5" fmla="*/ 3801618 w 3918203"/>
                <a:gd name="connsiteY5" fmla="*/ 488156 h 576548"/>
                <a:gd name="connsiteX6" fmla="*/ 3692557 w 3918203"/>
                <a:gd name="connsiteY6" fmla="*/ 576548 h 576548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18203" h="576548">
                  <a:moveTo>
                    <a:pt x="3692557" y="576548"/>
                  </a:moveTo>
                  <a:lnTo>
                    <a:pt x="225647" y="576548"/>
                  </a:lnTo>
                  <a:cubicBezTo>
                    <a:pt x="173927" y="576548"/>
                    <a:pt x="128969" y="540068"/>
                    <a:pt x="116586" y="488156"/>
                  </a:cubicBezTo>
                  <a:lnTo>
                    <a:pt x="0" y="0"/>
                  </a:lnTo>
                  <a:lnTo>
                    <a:pt x="3918204" y="0"/>
                  </a:lnTo>
                  <a:lnTo>
                    <a:pt x="3801618" y="488156"/>
                  </a:lnTo>
                  <a:cubicBezTo>
                    <a:pt x="3789236" y="540068"/>
                    <a:pt x="3744278" y="576548"/>
                    <a:pt x="3692557" y="576548"/>
                  </a:cubicBezTo>
                  <a:close/>
                </a:path>
              </a:pathLst>
            </a:custGeom>
            <a:solidFill>
              <a:srgbClr val="65b4d9"/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3087892" y="12959320"/>
              <a:ext cx="484654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3200" b="1" spc="-100">
                  <a:solidFill>
                    <a:schemeClr val="bg1"/>
                  </a:solidFill>
                  <a:latin typeface="+mn-ea"/>
                </a:rPr>
                <a:t>활용방안 및 기대효과</a:t>
              </a:r>
              <a:endParaRPr lang="ko-KR" altLang="en-US" sz="3200" b="1" spc="-10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31" name="타원 30"/>
          <p:cNvSpPr/>
          <p:nvPr/>
        </p:nvSpPr>
        <p:spPr>
          <a:xfrm>
            <a:off x="2471964" y="2565882"/>
            <a:ext cx="847725" cy="847725"/>
          </a:xfrm>
          <a:prstGeom prst="ellipse">
            <a:avLst/>
          </a:prstGeom>
          <a:solidFill>
            <a:srgbClr val="a090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2519815" y="2613593"/>
            <a:ext cx="771072" cy="72408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lvl="0" algn="ctr">
              <a:defRPr/>
            </a:pPr>
            <a:r>
              <a:rPr lang="en-US" altLang="ko-KR" sz="4800" b="1" spc="-150">
                <a:solidFill>
                  <a:schemeClr val="bg1"/>
                </a:solidFill>
                <a:latin typeface="+mn-ea"/>
              </a:rPr>
              <a:t>01</a:t>
            </a:r>
            <a:endParaRPr lang="ko-KR" altLang="en-US" sz="4800" b="1" spc="-15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1447463" y="7372079"/>
            <a:ext cx="8027987" cy="1179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Bef>
                <a:spcPts val="1200"/>
              </a:spcBef>
              <a:defRPr/>
            </a:pPr>
            <a:r>
              <a:rPr lang="ko-KR" altLang="en-US" sz="2400">
                <a:latin typeface="+mn-ea"/>
              </a:rPr>
              <a:t>본 플랫폼이 TRPG를 플레이하려는 사람들에게 새로운 방식의 접근성을 제공하고, 플레이 시간과 장소에 따른 제약이나 부담감을 줄일 수 있었으면 합니다</a:t>
            </a:r>
            <a:r>
              <a:rPr lang="en-US" altLang="ko-KR" sz="2400">
                <a:latin typeface="+mn-ea"/>
              </a:rPr>
              <a:t>.</a:t>
            </a:r>
            <a:endParaRPr lang="en-US" altLang="ko-KR" sz="2400">
              <a:latin typeface="+mn-ea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305108" y="3487497"/>
            <a:ext cx="11410892" cy="255610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>
              <a:defRPr/>
            </a:pPr>
            <a:r>
              <a:rPr lang="ko-KR" altLang="en-US" sz="8000" b="1">
                <a:solidFill>
                  <a:srgbClr val="002060"/>
                </a:solidFill>
                <a:latin typeface="+mn-ea"/>
              </a:rPr>
              <a:t>샘플 한림대학교</a:t>
            </a:r>
            <a:endParaRPr lang="ko-KR" altLang="en-US" sz="8000" b="1">
              <a:solidFill>
                <a:srgbClr val="002060"/>
              </a:solidFill>
              <a:latin typeface="+mn-ea"/>
            </a:endParaRPr>
          </a:p>
          <a:p>
            <a:pPr lvl="0">
              <a:defRPr/>
            </a:pPr>
            <a:r>
              <a:rPr lang="ko-KR" altLang="en-US" sz="8000" b="1">
                <a:solidFill>
                  <a:srgbClr val="002060"/>
                </a:solidFill>
                <a:latin typeface="+mn-ea"/>
              </a:rPr>
              <a:t>인사말</a:t>
            </a:r>
            <a:r>
              <a:rPr lang="en-US" altLang="ko-KR" sz="8000" b="1">
                <a:solidFill>
                  <a:srgbClr val="002060"/>
                </a:solidFill>
                <a:latin typeface="+mn-ea"/>
              </a:rPr>
              <a:t>/</a:t>
            </a:r>
            <a:r>
              <a:rPr lang="ko-KR" altLang="en-US" sz="8000" b="1">
                <a:solidFill>
                  <a:srgbClr val="002060"/>
                </a:solidFill>
                <a:latin typeface="+mn-ea"/>
              </a:rPr>
              <a:t>프로필</a:t>
            </a:r>
            <a:endParaRPr lang="en-US" altLang="ko-KR" sz="8000" b="1">
              <a:solidFill>
                <a:srgbClr val="002060"/>
              </a:solidFill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6171595" y="3551330"/>
            <a:ext cx="4478605" cy="223695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sz="2400" spc="-150">
                <a:latin typeface="+mn-ea"/>
              </a:rPr>
              <a:t>소프트웨어캡스톤디자인 </a:t>
            </a:r>
            <a:endParaRPr lang="ko-KR" altLang="en-US" sz="2400" spc="-150">
              <a:latin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ko-KR" sz="2400" spc="-150">
                <a:latin typeface="+mn-ea"/>
              </a:rPr>
              <a:t>randD</a:t>
            </a:r>
            <a:endParaRPr lang="en-US" altLang="ko-KR" sz="2400" spc="-150">
              <a:latin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ko-KR" altLang="en-US" sz="2400" spc="-150">
                <a:latin typeface="+mn-ea"/>
              </a:rPr>
              <a:t>김동현</a:t>
            </a:r>
            <a:r>
              <a:rPr lang="en-US" altLang="ko-KR" sz="2400" spc="-150">
                <a:latin typeface="+mn-ea"/>
              </a:rPr>
              <a:t>,</a:t>
            </a:r>
            <a:r>
              <a:rPr lang="ko-KR" altLang="en-US" sz="2400" spc="-150">
                <a:latin typeface="+mn-ea"/>
              </a:rPr>
              <a:t> 이현수</a:t>
            </a:r>
            <a:r>
              <a:rPr lang="en-US" altLang="ko-KR" sz="2400" spc="-150">
                <a:latin typeface="+mn-ea"/>
              </a:rPr>
              <a:t>,</a:t>
            </a:r>
            <a:r>
              <a:rPr lang="ko-KR" altLang="en-US" sz="2400" spc="-150">
                <a:latin typeface="+mn-ea"/>
              </a:rPr>
              <a:t> 임나리</a:t>
            </a:r>
            <a:endParaRPr lang="ko-KR" altLang="en-US" sz="2400" spc="-150">
              <a:latin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ko-KR" altLang="en-US" sz="2400" spc="-150">
                <a:latin typeface="+mn-ea"/>
              </a:rPr>
              <a:t>양은샘</a:t>
            </a:r>
            <a:endParaRPr lang="ko-KR" altLang="en-US" sz="2400" spc="-15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844675" y="2011680"/>
            <a:ext cx="315117" cy="3884295"/>
          </a:xfrm>
          <a:prstGeom prst="rect">
            <a:avLst/>
          </a:prstGeom>
          <a:solidFill>
            <a:srgbClr val="a090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pic>
        <p:nvPicPr>
          <p:cNvPr id="51" name="그림 5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338556" y="13055829"/>
            <a:ext cx="5616208" cy="3159117"/>
          </a:xfrm>
          <a:prstGeom prst="rect">
            <a:avLst/>
          </a:prstGeom>
        </p:spPr>
      </p:pic>
      <p:pic>
        <p:nvPicPr>
          <p:cNvPr id="52" name="그림 5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913121" y="21202452"/>
            <a:ext cx="5591374" cy="3145148"/>
          </a:xfrm>
          <a:prstGeom prst="rect">
            <a:avLst/>
          </a:prstGeom>
        </p:spPr>
      </p:pic>
      <p:pic>
        <p:nvPicPr>
          <p:cNvPr id="53" name="그림 5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2111322" y="9598007"/>
            <a:ext cx="6922834" cy="3942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193642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265</ep:Words>
  <ep:PresentationFormat>사용자 지정</ep:PresentationFormat>
  <ep:Paragraphs>27</ep:Paragraphs>
  <ep:Slides>1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ep:HeadingPairs>
  <ep:TitlesOfParts>
    <vt:vector size="2" baseType="lpstr">
      <vt:lpstr>Office 테마</vt:lpstr>
      <vt:lpstr>슬라이드 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2024-10-09T23:33:43.000</dcterms:created>
  <dc:creator>Danny Jackson</dc:creator>
  <cp:lastModifiedBy>nari</cp:lastModifiedBy>
  <dcterms:modified xsi:type="dcterms:W3CDTF">2025-12-01T13:23:20.287</dcterms:modified>
  <cp:revision>50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